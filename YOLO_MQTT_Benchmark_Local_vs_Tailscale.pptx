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45720" rIns="91440" bIns="45720"/>
          <a:lstStyle/>
          <a:p>
            <a:pPr algn="l"/>
            <a:r>
              <a:rPr lang="nl-NL" sz="3000" b="1">
                <a:solidFill>
                  <a:srgbClr val="0F172A"/>
                </a:solidFill>
              </a:rPr>
              <a:t>YOLOv8 MQTT Pipeline Benchmark</a:t>
            </a:r>
            <a:endParaRPr lang="nl-NL" sz="3000"/>
          </a:p>
        </p:txBody>
      </p:sp>
      <p:sp>
        <p:nvSpPr>
          <p:cNvPr id="3" name="Subtitle"/>
          <p:cNvSpPr/>
          <p:nvPr/>
        </p:nvSpPr>
        <p:spPr>
          <a:xfrm>
            <a:off x="429768" y="74980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45720" rIns="91440" bIns="45720"/>
          <a:lstStyle/>
          <a:p>
            <a:pPr algn="l"/>
            <a:r>
              <a:rPr lang="nl-NL" sz="1250">
                <a:solidFill>
                  <a:srgbClr val="475569"/>
                </a:solidFill>
              </a:rPr>
              <a:t>Local Mosquitto broker vs cloud Mosquitto broker via Tailscale | 100 beelden | cold-start inference uitgesloten</a:t>
            </a:r>
            <a:endParaRPr lang="nl-NL" sz="1250"/>
          </a:p>
        </p:txBody>
      </p:sp>
      <p:sp>
        <p:nvSpPr>
          <p:cNvPr id="4" name="cell-0-0"/>
          <p:cNvSpPr/>
          <p:nvPr/>
        </p:nvSpPr>
        <p:spPr>
          <a:xfrm>
            <a:off x="548640" y="1234440"/>
            <a:ext cx="4160520" cy="384048"/>
          </a:xfrm>
          <a:prstGeom prst="rect">
            <a:avLst/>
          </a:prstGeom>
          <a:solidFill>
            <a:srgbClr val="111827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300" b="1">
                <a:solidFill>
                  <a:srgbClr val="FFFFFF"/>
                </a:solidFill>
              </a:rPr>
              <a:t>Metric</a:t>
            </a:r>
            <a:endParaRPr lang="nl-NL" sz="1300"/>
          </a:p>
        </p:txBody>
      </p:sp>
      <p:sp>
        <p:nvSpPr>
          <p:cNvPr id="5" name="cell-0-1"/>
          <p:cNvSpPr/>
          <p:nvPr/>
        </p:nvSpPr>
        <p:spPr>
          <a:xfrm>
            <a:off x="4709160" y="1234440"/>
            <a:ext cx="3154680" cy="384048"/>
          </a:xfrm>
          <a:prstGeom prst="rect">
            <a:avLst/>
          </a:prstGeom>
          <a:solidFill>
            <a:srgbClr val="111827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300" b="1">
                <a:solidFill>
                  <a:srgbClr val="FFFFFF"/>
                </a:solidFill>
              </a:rPr>
              <a:t>Local broker</a:t>
            </a:r>
            <a:endParaRPr lang="nl-NL" sz="1300"/>
          </a:p>
        </p:txBody>
      </p:sp>
      <p:sp>
        <p:nvSpPr>
          <p:cNvPr id="6" name="cell-0-2"/>
          <p:cNvSpPr/>
          <p:nvPr/>
        </p:nvSpPr>
        <p:spPr>
          <a:xfrm>
            <a:off x="7863840" y="1234440"/>
            <a:ext cx="3520440" cy="384048"/>
          </a:xfrm>
          <a:prstGeom prst="rect">
            <a:avLst/>
          </a:prstGeom>
          <a:solidFill>
            <a:srgbClr val="111827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300" b="1">
                <a:solidFill>
                  <a:srgbClr val="FFFFFF"/>
                </a:solidFill>
              </a:rPr>
              <a:t>Cloud via Tailscale</a:t>
            </a:r>
            <a:endParaRPr lang="nl-NL" sz="1300"/>
          </a:p>
        </p:txBody>
      </p:sp>
      <p:sp>
        <p:nvSpPr>
          <p:cNvPr id="7" name="cell-1-0"/>
          <p:cNvSpPr/>
          <p:nvPr/>
        </p:nvSpPr>
        <p:spPr>
          <a:xfrm>
            <a:off x="548640" y="1618488"/>
            <a:ext cx="4160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Images processed</a:t>
            </a:r>
            <a:endParaRPr lang="nl-NL" sz="1250"/>
          </a:p>
        </p:txBody>
      </p:sp>
      <p:sp>
        <p:nvSpPr>
          <p:cNvPr id="8" name="cell-1-1"/>
          <p:cNvSpPr/>
          <p:nvPr/>
        </p:nvSpPr>
        <p:spPr>
          <a:xfrm>
            <a:off x="4709160" y="1618488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100</a:t>
            </a:r>
            <a:endParaRPr lang="nl-NL" sz="1250"/>
          </a:p>
        </p:txBody>
      </p:sp>
      <p:sp>
        <p:nvSpPr>
          <p:cNvPr id="9" name="cell-1-2"/>
          <p:cNvSpPr/>
          <p:nvPr/>
        </p:nvSpPr>
        <p:spPr>
          <a:xfrm>
            <a:off x="7863840" y="1618488"/>
            <a:ext cx="3520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100</a:t>
            </a:r>
            <a:endParaRPr lang="nl-NL" sz="1250"/>
          </a:p>
        </p:txBody>
      </p:sp>
      <p:sp>
        <p:nvSpPr>
          <p:cNvPr id="10" name="cell-2-0"/>
          <p:cNvSpPr/>
          <p:nvPr/>
        </p:nvSpPr>
        <p:spPr>
          <a:xfrm>
            <a:off x="548640" y="2002536"/>
            <a:ext cx="4160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Avg YOLO inference</a:t>
            </a:r>
            <a:endParaRPr lang="nl-NL" sz="1250"/>
          </a:p>
        </p:txBody>
      </p:sp>
      <p:sp>
        <p:nvSpPr>
          <p:cNvPr id="11" name="cell-2-1"/>
          <p:cNvSpPr/>
          <p:nvPr/>
        </p:nvSpPr>
        <p:spPr>
          <a:xfrm>
            <a:off x="4709160" y="2002536"/>
            <a:ext cx="31546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59.77 ms</a:t>
            </a:r>
            <a:endParaRPr lang="nl-NL" sz="1250"/>
          </a:p>
        </p:txBody>
      </p:sp>
      <p:sp>
        <p:nvSpPr>
          <p:cNvPr id="12" name="cell-2-2"/>
          <p:cNvSpPr/>
          <p:nvPr/>
        </p:nvSpPr>
        <p:spPr>
          <a:xfrm>
            <a:off x="7863840" y="2002536"/>
            <a:ext cx="3520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86.44 ms</a:t>
            </a:r>
            <a:endParaRPr lang="nl-NL" sz="1250"/>
          </a:p>
        </p:txBody>
      </p:sp>
      <p:sp>
        <p:nvSpPr>
          <p:cNvPr id="13" name="cell-3-0"/>
          <p:cNvSpPr/>
          <p:nvPr/>
        </p:nvSpPr>
        <p:spPr>
          <a:xfrm>
            <a:off x="548640" y="2386584"/>
            <a:ext cx="4160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P95 YOLO inference</a:t>
            </a:r>
            <a:endParaRPr lang="nl-NL" sz="1250"/>
          </a:p>
        </p:txBody>
      </p:sp>
      <p:sp>
        <p:nvSpPr>
          <p:cNvPr id="14" name="cell-3-1"/>
          <p:cNvSpPr/>
          <p:nvPr/>
        </p:nvSpPr>
        <p:spPr>
          <a:xfrm>
            <a:off x="4709160" y="2386584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132.20 ms</a:t>
            </a:r>
            <a:endParaRPr lang="nl-NL" sz="1250"/>
          </a:p>
        </p:txBody>
      </p:sp>
      <p:sp>
        <p:nvSpPr>
          <p:cNvPr id="15" name="cell-3-2"/>
          <p:cNvSpPr/>
          <p:nvPr/>
        </p:nvSpPr>
        <p:spPr>
          <a:xfrm>
            <a:off x="7863840" y="2386584"/>
            <a:ext cx="3520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136.59 ms</a:t>
            </a:r>
            <a:endParaRPr lang="nl-NL" sz="1250"/>
          </a:p>
        </p:txBody>
      </p:sp>
      <p:sp>
        <p:nvSpPr>
          <p:cNvPr id="16" name="cell-4-0"/>
          <p:cNvSpPr/>
          <p:nvPr/>
        </p:nvSpPr>
        <p:spPr>
          <a:xfrm>
            <a:off x="548640" y="2770632"/>
            <a:ext cx="4160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Publish -&gt; subscriber</a:t>
            </a:r>
            <a:endParaRPr lang="nl-NL" sz="1250"/>
          </a:p>
        </p:txBody>
      </p:sp>
      <p:sp>
        <p:nvSpPr>
          <p:cNvPr id="17" name="cell-4-1"/>
          <p:cNvSpPr/>
          <p:nvPr/>
        </p:nvSpPr>
        <p:spPr>
          <a:xfrm>
            <a:off x="4709160" y="2770632"/>
            <a:ext cx="31546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1.58 ms</a:t>
            </a:r>
            <a:endParaRPr lang="nl-NL" sz="1250"/>
          </a:p>
        </p:txBody>
      </p:sp>
      <p:sp>
        <p:nvSpPr>
          <p:cNvPr id="18" name="cell-4-2"/>
          <p:cNvSpPr/>
          <p:nvPr/>
        </p:nvSpPr>
        <p:spPr>
          <a:xfrm>
            <a:off x="7863840" y="2770632"/>
            <a:ext cx="3520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13.58 ms</a:t>
            </a:r>
            <a:endParaRPr lang="nl-NL" sz="1250"/>
          </a:p>
        </p:txBody>
      </p:sp>
      <p:sp>
        <p:nvSpPr>
          <p:cNvPr id="19" name="cell-5-0"/>
          <p:cNvSpPr/>
          <p:nvPr/>
        </p:nvSpPr>
        <p:spPr>
          <a:xfrm>
            <a:off x="548640" y="3154680"/>
            <a:ext cx="4160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Subscriber ACK processing</a:t>
            </a:r>
            <a:endParaRPr lang="nl-NL" sz="1250"/>
          </a:p>
        </p:txBody>
      </p:sp>
      <p:sp>
        <p:nvSpPr>
          <p:cNvPr id="20" name="cell-5-1"/>
          <p:cNvSpPr/>
          <p:nvPr/>
        </p:nvSpPr>
        <p:spPr>
          <a:xfrm>
            <a:off x="4709160" y="3154680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0.03 ms</a:t>
            </a:r>
            <a:endParaRPr lang="nl-NL" sz="1250"/>
          </a:p>
        </p:txBody>
      </p:sp>
      <p:sp>
        <p:nvSpPr>
          <p:cNvPr id="21" name="cell-5-2"/>
          <p:cNvSpPr/>
          <p:nvPr/>
        </p:nvSpPr>
        <p:spPr>
          <a:xfrm>
            <a:off x="7863840" y="3154680"/>
            <a:ext cx="3520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0.03 ms</a:t>
            </a:r>
            <a:endParaRPr lang="nl-NL" sz="1250"/>
          </a:p>
        </p:txBody>
      </p:sp>
      <p:sp>
        <p:nvSpPr>
          <p:cNvPr id="22" name="cell-6-0"/>
          <p:cNvSpPr/>
          <p:nvPr/>
        </p:nvSpPr>
        <p:spPr>
          <a:xfrm>
            <a:off x="548640" y="3538728"/>
            <a:ext cx="4160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ACK return</a:t>
            </a:r>
            <a:endParaRPr lang="nl-NL" sz="1250"/>
          </a:p>
        </p:txBody>
      </p:sp>
      <p:sp>
        <p:nvSpPr>
          <p:cNvPr id="23" name="cell-6-1"/>
          <p:cNvSpPr/>
          <p:nvPr/>
        </p:nvSpPr>
        <p:spPr>
          <a:xfrm>
            <a:off x="4709160" y="3538728"/>
            <a:ext cx="31546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2.65 ms</a:t>
            </a:r>
            <a:endParaRPr lang="nl-NL" sz="1250"/>
          </a:p>
        </p:txBody>
      </p:sp>
      <p:sp>
        <p:nvSpPr>
          <p:cNvPr id="24" name="cell-6-2"/>
          <p:cNvSpPr/>
          <p:nvPr/>
        </p:nvSpPr>
        <p:spPr>
          <a:xfrm>
            <a:off x="7863840" y="3538728"/>
            <a:ext cx="3520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14.48 ms</a:t>
            </a:r>
            <a:endParaRPr lang="nl-NL" sz="1250"/>
          </a:p>
        </p:txBody>
      </p:sp>
      <p:sp>
        <p:nvSpPr>
          <p:cNvPr id="25" name="cell-7-0"/>
          <p:cNvSpPr/>
          <p:nvPr/>
        </p:nvSpPr>
        <p:spPr>
          <a:xfrm>
            <a:off x="548640" y="3922776"/>
            <a:ext cx="4160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Avg MQTT ACK roundtrip</a:t>
            </a:r>
            <a:endParaRPr lang="nl-NL" sz="1250"/>
          </a:p>
        </p:txBody>
      </p:sp>
      <p:sp>
        <p:nvSpPr>
          <p:cNvPr id="26" name="cell-7-1"/>
          <p:cNvSpPr/>
          <p:nvPr/>
        </p:nvSpPr>
        <p:spPr>
          <a:xfrm>
            <a:off x="4709160" y="3922776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4.26 ms</a:t>
            </a:r>
            <a:endParaRPr lang="nl-NL" sz="1250"/>
          </a:p>
        </p:txBody>
      </p:sp>
      <p:sp>
        <p:nvSpPr>
          <p:cNvPr id="27" name="cell-7-2"/>
          <p:cNvSpPr/>
          <p:nvPr/>
        </p:nvSpPr>
        <p:spPr>
          <a:xfrm>
            <a:off x="7863840" y="3922776"/>
            <a:ext cx="3520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28.10 ms</a:t>
            </a:r>
            <a:endParaRPr lang="nl-NL" sz="1250"/>
          </a:p>
        </p:txBody>
      </p:sp>
      <p:sp>
        <p:nvSpPr>
          <p:cNvPr id="28" name="cell-8-0"/>
          <p:cNvSpPr/>
          <p:nvPr/>
        </p:nvSpPr>
        <p:spPr>
          <a:xfrm>
            <a:off x="548640" y="4306824"/>
            <a:ext cx="4160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P95 MQTT ACK roundtrip</a:t>
            </a:r>
            <a:endParaRPr lang="nl-NL" sz="1250"/>
          </a:p>
        </p:txBody>
      </p:sp>
      <p:sp>
        <p:nvSpPr>
          <p:cNvPr id="29" name="cell-8-1"/>
          <p:cNvSpPr/>
          <p:nvPr/>
        </p:nvSpPr>
        <p:spPr>
          <a:xfrm>
            <a:off x="4709160" y="4306824"/>
            <a:ext cx="31546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4.83 ms</a:t>
            </a:r>
            <a:endParaRPr lang="nl-NL" sz="1250"/>
          </a:p>
        </p:txBody>
      </p:sp>
      <p:sp>
        <p:nvSpPr>
          <p:cNvPr id="30" name="cell-8-2"/>
          <p:cNvSpPr/>
          <p:nvPr/>
        </p:nvSpPr>
        <p:spPr>
          <a:xfrm>
            <a:off x="7863840" y="4306824"/>
            <a:ext cx="3520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31.02 ms</a:t>
            </a:r>
            <a:endParaRPr lang="nl-NL" sz="1250"/>
          </a:p>
        </p:txBody>
      </p:sp>
      <p:sp>
        <p:nvSpPr>
          <p:cNvPr id="31" name="cell-9-0"/>
          <p:cNvSpPr/>
          <p:nvPr/>
        </p:nvSpPr>
        <p:spPr>
          <a:xfrm>
            <a:off x="548640" y="4690872"/>
            <a:ext cx="4160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Avg total pipeline</a:t>
            </a:r>
            <a:endParaRPr lang="nl-NL" sz="1250"/>
          </a:p>
        </p:txBody>
      </p:sp>
      <p:sp>
        <p:nvSpPr>
          <p:cNvPr id="32" name="cell-9-1"/>
          <p:cNvSpPr/>
          <p:nvPr/>
        </p:nvSpPr>
        <p:spPr>
          <a:xfrm>
            <a:off x="4709160" y="4690872"/>
            <a:ext cx="3154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64.02 ms</a:t>
            </a:r>
            <a:endParaRPr lang="nl-NL" sz="1250"/>
          </a:p>
        </p:txBody>
      </p:sp>
      <p:sp>
        <p:nvSpPr>
          <p:cNvPr id="33" name="cell-9-2"/>
          <p:cNvSpPr/>
          <p:nvPr/>
        </p:nvSpPr>
        <p:spPr>
          <a:xfrm>
            <a:off x="7863840" y="4690872"/>
            <a:ext cx="3520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114.53 ms</a:t>
            </a:r>
            <a:endParaRPr lang="nl-NL" sz="1250"/>
          </a:p>
        </p:txBody>
      </p:sp>
      <p:sp>
        <p:nvSpPr>
          <p:cNvPr id="34" name="cell-10-0"/>
          <p:cNvSpPr/>
          <p:nvPr/>
        </p:nvSpPr>
        <p:spPr>
          <a:xfrm>
            <a:off x="548640" y="5074920"/>
            <a:ext cx="416052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P95 total pipeline</a:t>
            </a:r>
            <a:endParaRPr lang="nl-NL" sz="1250"/>
          </a:p>
        </p:txBody>
      </p:sp>
      <p:sp>
        <p:nvSpPr>
          <p:cNvPr id="35" name="cell-10-1"/>
          <p:cNvSpPr/>
          <p:nvPr/>
        </p:nvSpPr>
        <p:spPr>
          <a:xfrm>
            <a:off x="4709160" y="5074920"/>
            <a:ext cx="315468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136.24 ms</a:t>
            </a:r>
            <a:endParaRPr lang="nl-NL" sz="1250"/>
          </a:p>
        </p:txBody>
      </p:sp>
      <p:sp>
        <p:nvSpPr>
          <p:cNvPr id="36" name="cell-10-2"/>
          <p:cNvSpPr/>
          <p:nvPr/>
        </p:nvSpPr>
        <p:spPr>
          <a:xfrm>
            <a:off x="7863840" y="5074920"/>
            <a:ext cx="352044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163.21 ms</a:t>
            </a:r>
            <a:endParaRPr lang="nl-NL" sz="1250"/>
          </a:p>
        </p:txBody>
      </p:sp>
      <p:sp>
        <p:nvSpPr>
          <p:cNvPr id="37" name="Conclusion"/>
          <p:cNvSpPr/>
          <p:nvPr/>
        </p:nvSpPr>
        <p:spPr>
          <a:xfrm>
            <a:off x="640080" y="5623560"/>
            <a:ext cx="10698480" cy="530352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7DD3FC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450" b="1">
                <a:solidFill>
                  <a:srgbClr val="0F172A"/>
                </a:solidFill>
              </a:rPr>
              <a:t>Conclusie: Tailscale voegt gemiddeld ~24 ms MQTT ACK roundtrip toe, maar blijft stabiel genoeg voor de afvaldetectie-pipeline.</a:t>
            </a:r>
            <a:endParaRPr lang="nl-NL" sz="14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45720" rIns="91440" bIns="45720"/>
          <a:lstStyle/>
          <a:p>
            <a:pPr algn="l"/>
            <a:r>
              <a:rPr lang="nl-NL" sz="3000" b="1">
                <a:solidFill>
                  <a:srgbClr val="0F172A"/>
                </a:solidFill>
              </a:rPr>
              <a:t>Latency Breakdown Per Stap</a:t>
            </a:r>
            <a:endParaRPr lang="nl-NL" sz="3000"/>
          </a:p>
        </p:txBody>
      </p:sp>
      <p:sp>
        <p:nvSpPr>
          <p:cNvPr id="3" name="Subtitle"/>
          <p:cNvSpPr/>
          <p:nvPr/>
        </p:nvSpPr>
        <p:spPr>
          <a:xfrm>
            <a:off x="429768" y="74980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45720" rIns="91440" bIns="45720"/>
          <a:lstStyle/>
          <a:p>
            <a:pPr algn="l"/>
            <a:r>
              <a:rPr lang="nl-NL" sz="1250">
                <a:solidFill>
                  <a:srgbClr val="475569"/>
                </a:solidFill>
              </a:rPr>
              <a:t>Gemeten applicatie-flow: publisher -&gt; broker -&gt; subscriber -&gt; ACK -&gt; broker -&gt; publisher</a:t>
            </a:r>
            <a:endParaRPr lang="nl-NL" sz="1250"/>
          </a:p>
        </p:txBody>
      </p:sp>
      <p:sp>
        <p:nvSpPr>
          <p:cNvPr id="4" name="Flow 0"/>
          <p:cNvSpPr/>
          <p:nvPr/>
        </p:nvSpPr>
        <p:spPr>
          <a:xfrm>
            <a:off x="502920" y="1417320"/>
            <a:ext cx="1828800" cy="658368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0F172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 b="1">
                <a:solidFill>
                  <a:srgbClr val="FFFFFF"/>
                </a:solidFill>
              </a:rPr>
              <a:t>Publisher</a:t>
            </a:r>
            <a:endParaRPr lang="nl-NL" sz="1250"/>
          </a:p>
          <a:p>
            <a:pPr algn="ctr"/>
            <a:r>
              <a:rPr lang="nl-NL" sz="1250" b="1">
                <a:solidFill>
                  <a:srgbClr val="FFFFFF"/>
                </a:solidFill>
              </a:rPr>
              <a:t>container</a:t>
            </a:r>
            <a:endParaRPr lang="nl-NL" sz="1250"/>
          </a:p>
        </p:txBody>
      </p:sp>
      <p:cxnSp>
        <p:nvCxnSpPr>
          <p:cNvPr id="5" name="Arrow"/>
          <p:cNvCxnSpPr/>
          <p:nvPr/>
        </p:nvCxnSpPr>
        <p:spPr>
          <a:xfrm>
            <a:off x="2331720" y="1746504"/>
            <a:ext cx="457200" cy="0"/>
          </a:xfrm>
          <a:prstGeom prst="line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6" name="Flow 1"/>
          <p:cNvSpPr/>
          <p:nvPr/>
        </p:nvSpPr>
        <p:spPr>
          <a:xfrm>
            <a:off x="2788920" y="1417320"/>
            <a:ext cx="1828800" cy="65836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172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 b="1">
                <a:solidFill>
                  <a:srgbClr val="FFFFFF"/>
                </a:solidFill>
              </a:rPr>
              <a:t>Mosquitto</a:t>
            </a:r>
            <a:endParaRPr lang="nl-NL" sz="1250"/>
          </a:p>
          <a:p>
            <a:pPr algn="ctr"/>
            <a:r>
              <a:rPr lang="nl-NL" sz="1250" b="1">
                <a:solidFill>
                  <a:srgbClr val="FFFFFF"/>
                </a:solidFill>
              </a:rPr>
              <a:t>broker</a:t>
            </a:r>
            <a:endParaRPr lang="nl-NL" sz="1250"/>
          </a:p>
        </p:txBody>
      </p:sp>
      <p:cxnSp>
        <p:nvCxnSpPr>
          <p:cNvPr id="7" name="Arrow"/>
          <p:cNvCxnSpPr/>
          <p:nvPr/>
        </p:nvCxnSpPr>
        <p:spPr>
          <a:xfrm>
            <a:off x="4617720" y="1746504"/>
            <a:ext cx="457200" cy="0"/>
          </a:xfrm>
          <a:prstGeom prst="line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8" name="Flow 2"/>
          <p:cNvSpPr/>
          <p:nvPr/>
        </p:nvSpPr>
        <p:spPr>
          <a:xfrm>
            <a:off x="5074920" y="1417320"/>
            <a:ext cx="1828800" cy="65836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172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 b="1">
                <a:solidFill>
                  <a:srgbClr val="FFFFFF"/>
                </a:solidFill>
              </a:rPr>
              <a:t>Subscriber</a:t>
            </a:r>
            <a:endParaRPr lang="nl-NL" sz="1250"/>
          </a:p>
          <a:p>
            <a:pPr algn="ctr"/>
            <a:r>
              <a:rPr lang="nl-NL" sz="1250" b="1">
                <a:solidFill>
                  <a:srgbClr val="FFFFFF"/>
                </a:solidFill>
              </a:rPr>
              <a:t>container</a:t>
            </a:r>
            <a:endParaRPr lang="nl-NL" sz="1250"/>
          </a:p>
        </p:txBody>
      </p:sp>
      <p:cxnSp>
        <p:nvCxnSpPr>
          <p:cNvPr id="9" name="Arrow"/>
          <p:cNvCxnSpPr/>
          <p:nvPr/>
        </p:nvCxnSpPr>
        <p:spPr>
          <a:xfrm>
            <a:off x="6903720" y="1746504"/>
            <a:ext cx="457200" cy="0"/>
          </a:xfrm>
          <a:prstGeom prst="line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10" name="Flow 3"/>
          <p:cNvSpPr/>
          <p:nvPr/>
        </p:nvSpPr>
        <p:spPr>
          <a:xfrm>
            <a:off x="7360920" y="1417320"/>
            <a:ext cx="1828800" cy="658368"/>
          </a:xfrm>
          <a:prstGeom prst="roundRect">
            <a:avLst/>
          </a:prstGeom>
          <a:solidFill>
            <a:srgbClr val="0F766E"/>
          </a:solidFill>
          <a:ln w="9525">
            <a:solidFill>
              <a:srgbClr val="0F172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 b="1">
                <a:solidFill>
                  <a:srgbClr val="FFFFFF"/>
                </a:solidFill>
              </a:rPr>
              <a:t>ACK topic</a:t>
            </a:r>
            <a:endParaRPr lang="nl-NL" sz="1250"/>
          </a:p>
          <a:p>
            <a:pPr algn="ctr"/>
            <a:r>
              <a:rPr lang="nl-NL" sz="1250" b="1">
                <a:solidFill>
                  <a:srgbClr val="FFFFFF"/>
                </a:solidFill>
              </a:rPr>
              <a:t>broker</a:t>
            </a:r>
            <a:endParaRPr lang="nl-NL" sz="1250"/>
          </a:p>
        </p:txBody>
      </p:sp>
      <p:cxnSp>
        <p:nvCxnSpPr>
          <p:cNvPr id="11" name="Arrow"/>
          <p:cNvCxnSpPr/>
          <p:nvPr/>
        </p:nvCxnSpPr>
        <p:spPr>
          <a:xfrm>
            <a:off x="9189720" y="1746504"/>
            <a:ext cx="457200" cy="0"/>
          </a:xfrm>
          <a:prstGeom prst="line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12" name="Flow 4"/>
          <p:cNvSpPr/>
          <p:nvPr/>
        </p:nvSpPr>
        <p:spPr>
          <a:xfrm>
            <a:off x="9646920" y="1417320"/>
            <a:ext cx="1828800" cy="658368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0F172A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 b="1">
                <a:solidFill>
                  <a:srgbClr val="FFFFFF"/>
                </a:solidFill>
              </a:rPr>
              <a:t>Publisher</a:t>
            </a:r>
            <a:endParaRPr lang="nl-NL" sz="1250"/>
          </a:p>
          <a:p>
            <a:pPr algn="ctr"/>
            <a:r>
              <a:rPr lang="nl-NL" sz="1250" b="1">
                <a:solidFill>
                  <a:srgbClr val="FFFFFF"/>
                </a:solidFill>
              </a:rPr>
              <a:t>ACK received</a:t>
            </a:r>
            <a:endParaRPr lang="nl-NL" sz="1250"/>
          </a:p>
        </p:txBody>
      </p:sp>
      <p:sp>
        <p:nvSpPr>
          <p:cNvPr id="13" name="cell-0-0"/>
          <p:cNvSpPr/>
          <p:nvPr/>
        </p:nvSpPr>
        <p:spPr>
          <a:xfrm>
            <a:off x="685800" y="2514600"/>
            <a:ext cx="402336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300" b="1">
                <a:solidFill>
                  <a:srgbClr val="FFFFFF"/>
                </a:solidFill>
              </a:rPr>
              <a:t>Stap</a:t>
            </a:r>
            <a:endParaRPr lang="nl-NL" sz="1300"/>
          </a:p>
        </p:txBody>
      </p:sp>
      <p:sp>
        <p:nvSpPr>
          <p:cNvPr id="14" name="cell-0-1"/>
          <p:cNvSpPr/>
          <p:nvPr/>
        </p:nvSpPr>
        <p:spPr>
          <a:xfrm>
            <a:off x="4709160" y="2514600"/>
            <a:ext cx="278892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300" b="1">
                <a:solidFill>
                  <a:srgbClr val="FFFFFF"/>
                </a:solidFill>
              </a:rPr>
              <a:t>Local</a:t>
            </a:r>
            <a:endParaRPr lang="nl-NL" sz="1300"/>
          </a:p>
        </p:txBody>
      </p:sp>
      <p:sp>
        <p:nvSpPr>
          <p:cNvPr id="15" name="cell-0-2"/>
          <p:cNvSpPr/>
          <p:nvPr/>
        </p:nvSpPr>
        <p:spPr>
          <a:xfrm>
            <a:off x="7498080" y="2514600"/>
            <a:ext cx="324612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300" b="1">
                <a:solidFill>
                  <a:srgbClr val="FFFFFF"/>
                </a:solidFill>
              </a:rPr>
              <a:t>Cloud via Tailscale</a:t>
            </a:r>
            <a:endParaRPr lang="nl-NL" sz="1300"/>
          </a:p>
        </p:txBody>
      </p:sp>
      <p:sp>
        <p:nvSpPr>
          <p:cNvPr id="16" name="cell-1-0"/>
          <p:cNvSpPr/>
          <p:nvPr/>
        </p:nvSpPr>
        <p:spPr>
          <a:xfrm>
            <a:off x="685800" y="297180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Publisher -&gt; subscriber</a:t>
            </a:r>
            <a:endParaRPr lang="nl-NL" sz="1250"/>
          </a:p>
        </p:txBody>
      </p:sp>
      <p:sp>
        <p:nvSpPr>
          <p:cNvPr id="17" name="cell-1-1"/>
          <p:cNvSpPr/>
          <p:nvPr/>
        </p:nvSpPr>
        <p:spPr>
          <a:xfrm>
            <a:off x="4709160" y="2971800"/>
            <a:ext cx="2788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1.58 ms</a:t>
            </a:r>
            <a:endParaRPr lang="nl-NL" sz="1250"/>
          </a:p>
        </p:txBody>
      </p:sp>
      <p:sp>
        <p:nvSpPr>
          <p:cNvPr id="18" name="cell-1-2"/>
          <p:cNvSpPr/>
          <p:nvPr/>
        </p:nvSpPr>
        <p:spPr>
          <a:xfrm>
            <a:off x="7498080" y="2971800"/>
            <a:ext cx="3246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13.58 ms</a:t>
            </a:r>
            <a:endParaRPr lang="nl-NL" sz="1250"/>
          </a:p>
        </p:txBody>
      </p:sp>
      <p:sp>
        <p:nvSpPr>
          <p:cNvPr id="19" name="cell-2-0"/>
          <p:cNvSpPr/>
          <p:nvPr/>
        </p:nvSpPr>
        <p:spPr>
          <a:xfrm>
            <a:off x="685800" y="3429000"/>
            <a:ext cx="402336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Subscriber ACK processing</a:t>
            </a:r>
            <a:endParaRPr lang="nl-NL" sz="1250"/>
          </a:p>
        </p:txBody>
      </p:sp>
      <p:sp>
        <p:nvSpPr>
          <p:cNvPr id="20" name="cell-2-1"/>
          <p:cNvSpPr/>
          <p:nvPr/>
        </p:nvSpPr>
        <p:spPr>
          <a:xfrm>
            <a:off x="4709160" y="3429000"/>
            <a:ext cx="27889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0.03 ms</a:t>
            </a:r>
            <a:endParaRPr lang="nl-NL" sz="1250"/>
          </a:p>
        </p:txBody>
      </p:sp>
      <p:sp>
        <p:nvSpPr>
          <p:cNvPr id="21" name="cell-2-2"/>
          <p:cNvSpPr/>
          <p:nvPr/>
        </p:nvSpPr>
        <p:spPr>
          <a:xfrm>
            <a:off x="7498080" y="3429000"/>
            <a:ext cx="32461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0.03 ms</a:t>
            </a:r>
            <a:endParaRPr lang="nl-NL" sz="1250"/>
          </a:p>
        </p:txBody>
      </p:sp>
      <p:sp>
        <p:nvSpPr>
          <p:cNvPr id="22" name="cell-3-0"/>
          <p:cNvSpPr/>
          <p:nvPr/>
        </p:nvSpPr>
        <p:spPr>
          <a:xfrm>
            <a:off x="685800" y="388620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ACK return</a:t>
            </a:r>
            <a:endParaRPr lang="nl-NL" sz="1250"/>
          </a:p>
        </p:txBody>
      </p:sp>
      <p:sp>
        <p:nvSpPr>
          <p:cNvPr id="23" name="cell-3-1"/>
          <p:cNvSpPr/>
          <p:nvPr/>
        </p:nvSpPr>
        <p:spPr>
          <a:xfrm>
            <a:off x="4709160" y="3886200"/>
            <a:ext cx="2788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2.65 ms</a:t>
            </a:r>
            <a:endParaRPr lang="nl-NL" sz="1250"/>
          </a:p>
        </p:txBody>
      </p:sp>
      <p:sp>
        <p:nvSpPr>
          <p:cNvPr id="24" name="cell-3-2"/>
          <p:cNvSpPr/>
          <p:nvPr/>
        </p:nvSpPr>
        <p:spPr>
          <a:xfrm>
            <a:off x="7498080" y="3886200"/>
            <a:ext cx="3246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14.48 ms</a:t>
            </a:r>
            <a:endParaRPr lang="nl-NL" sz="1250"/>
          </a:p>
        </p:txBody>
      </p:sp>
      <p:sp>
        <p:nvSpPr>
          <p:cNvPr id="25" name="cell-4-0"/>
          <p:cNvSpPr/>
          <p:nvPr/>
        </p:nvSpPr>
        <p:spPr>
          <a:xfrm>
            <a:off x="685800" y="4343400"/>
            <a:ext cx="402336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End-to-end MQTT ACK</a:t>
            </a:r>
            <a:endParaRPr lang="nl-NL" sz="1250"/>
          </a:p>
        </p:txBody>
      </p:sp>
      <p:sp>
        <p:nvSpPr>
          <p:cNvPr id="26" name="cell-4-1"/>
          <p:cNvSpPr/>
          <p:nvPr/>
        </p:nvSpPr>
        <p:spPr>
          <a:xfrm>
            <a:off x="4709160" y="4343400"/>
            <a:ext cx="27889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4.26 ms</a:t>
            </a:r>
            <a:endParaRPr lang="nl-NL" sz="1250"/>
          </a:p>
        </p:txBody>
      </p:sp>
      <p:sp>
        <p:nvSpPr>
          <p:cNvPr id="27" name="cell-4-2"/>
          <p:cNvSpPr/>
          <p:nvPr/>
        </p:nvSpPr>
        <p:spPr>
          <a:xfrm>
            <a:off x="7498080" y="4343400"/>
            <a:ext cx="3246120" cy="457200"/>
          </a:xfrm>
          <a:prstGeom prst="rect">
            <a:avLst/>
          </a:prstGeom>
          <a:solidFill>
            <a:srgbClr val="F8FAFC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28.10 ms</a:t>
            </a:r>
            <a:endParaRPr lang="nl-NL" sz="1250"/>
          </a:p>
        </p:txBody>
      </p:sp>
      <p:sp>
        <p:nvSpPr>
          <p:cNvPr id="28" name="cell-5-0"/>
          <p:cNvSpPr/>
          <p:nvPr/>
        </p:nvSpPr>
        <p:spPr>
          <a:xfrm>
            <a:off x="685800" y="4800600"/>
            <a:ext cx="4023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l"/>
            <a:r>
              <a:rPr lang="nl-NL" sz="1250" b="1">
                <a:solidFill>
                  <a:srgbClr val="111827"/>
                </a:solidFill>
              </a:rPr>
              <a:t>P95 MQTT ACK</a:t>
            </a:r>
            <a:endParaRPr lang="nl-NL" sz="1250"/>
          </a:p>
        </p:txBody>
      </p:sp>
      <p:sp>
        <p:nvSpPr>
          <p:cNvPr id="29" name="cell-5-1"/>
          <p:cNvSpPr/>
          <p:nvPr/>
        </p:nvSpPr>
        <p:spPr>
          <a:xfrm>
            <a:off x="4709160" y="4800600"/>
            <a:ext cx="2788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4.83 ms</a:t>
            </a:r>
            <a:endParaRPr lang="nl-NL" sz="1250"/>
          </a:p>
        </p:txBody>
      </p:sp>
      <p:sp>
        <p:nvSpPr>
          <p:cNvPr id="30" name="cell-5-2"/>
          <p:cNvSpPr/>
          <p:nvPr/>
        </p:nvSpPr>
        <p:spPr>
          <a:xfrm>
            <a:off x="7498080" y="4800600"/>
            <a:ext cx="3246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DE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250">
                <a:solidFill>
                  <a:srgbClr val="111827"/>
                </a:solidFill>
              </a:rPr>
              <a:t>31.02 ms</a:t>
            </a:r>
            <a:endParaRPr lang="nl-NL" sz="1250"/>
          </a:p>
        </p:txBody>
      </p:sp>
      <p:sp>
        <p:nvSpPr>
          <p:cNvPr id="31" name="Insight 1"/>
          <p:cNvSpPr/>
          <p:nvPr/>
        </p:nvSpPr>
        <p:spPr>
          <a:xfrm>
            <a:off x="731520" y="5486400"/>
            <a:ext cx="4983480" cy="50292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350" b="1">
                <a:solidFill>
                  <a:srgbClr val="0F172A"/>
                </a:solidFill>
              </a:rPr>
              <a:t>Subscriber processing is bijna nul: ~0.03 ms. De latency zit vooral in de netwerkroute.</a:t>
            </a:r>
            <a:endParaRPr lang="nl-NL" sz="1350"/>
          </a:p>
        </p:txBody>
      </p:sp>
      <p:sp>
        <p:nvSpPr>
          <p:cNvPr id="32" name="Insight 2"/>
          <p:cNvSpPr/>
          <p:nvPr/>
        </p:nvSpPr>
        <p:spPr>
          <a:xfrm>
            <a:off x="5989320" y="5486400"/>
            <a:ext cx="4983480" cy="50292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anchor="mid" lIns="91440" tIns="45720" rIns="91440" bIns="45720"/>
          <a:lstStyle/>
          <a:p>
            <a:pPr algn="ctr"/>
            <a:r>
              <a:rPr lang="nl-NL" sz="1350" b="1">
                <a:solidFill>
                  <a:srgbClr val="0F172A"/>
                </a:solidFill>
              </a:rPr>
              <a:t>Via Tailscale blijft de ACK-flow stabiel: ~28 ms gemiddeld en ~31 ms p95.</a:t>
            </a:r>
            <a:endParaRPr lang="nl-NL" sz="13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chmark Theme">
  <a:themeElements>
    <a:clrScheme name="Benchmark">
      <a:dk1>
        <a:srgbClr val="111827"/>
      </a:dk1>
      <a:lt1>
        <a:srgbClr val="FFFFFF"/>
      </a:lt1>
      <a:dk2>
        <a:srgbClr val="0F172A"/>
      </a:dk2>
      <a:lt2>
        <a:srgbClr val="F8FAFC"/>
      </a:lt2>
      <a:accent1>
        <a:srgbClr val="2563EB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Default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 MQTT Benchmark</dc:title>
  <dc:creator>Codex</dc:creator>
  <cp:lastModifiedBy>Codex</cp:lastModifiedBy>
  <dcterms:created xsi:type="dcterms:W3CDTF">2026-04-14T13:13:01.172602+00:00</dcterms:created>
  <dcterms:modified xsi:type="dcterms:W3CDTF">2026-04-14T13:13:01.172602+00:00</dcterms:modified>
</cp:coreProperties>
</file>